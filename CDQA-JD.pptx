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92D8"/>
    <a:srgbClr val="0C94D8"/>
    <a:srgbClr val="76CDE2"/>
    <a:srgbClr val="64DDCF"/>
    <a:srgbClr val="B8E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72" y="-2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0041F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019"/>
              </a:lnSpc>
            </a:pPr>
            <a:r>
              <a:rPr spc="-20" dirty="0"/>
              <a:t>COBE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6666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915"/>
              </a:lnSpc>
              <a:tabLst>
                <a:tab pos="2410460" algn="l"/>
              </a:tabLst>
            </a:pPr>
            <a:r>
              <a:rPr spc="10" dirty="0"/>
              <a:t>Copyright</a:t>
            </a:r>
            <a:r>
              <a:rPr spc="-5" dirty="0"/>
              <a:t> </a:t>
            </a:r>
            <a:r>
              <a:rPr spc="85" dirty="0"/>
              <a:t>©</a:t>
            </a:r>
            <a:r>
              <a:rPr spc="-5" dirty="0"/>
              <a:t> </a:t>
            </a:r>
            <a:r>
              <a:rPr spc="10" dirty="0"/>
              <a:t>2022</a:t>
            </a:r>
            <a:r>
              <a:rPr spc="-5" dirty="0"/>
              <a:t> </a:t>
            </a:r>
            <a:r>
              <a:rPr spc="10" dirty="0"/>
              <a:t>Accenture.</a:t>
            </a:r>
            <a:r>
              <a:rPr spc="-5" dirty="0"/>
              <a:t> </a:t>
            </a:r>
            <a:r>
              <a:rPr spc="10" dirty="0"/>
              <a:t>All</a:t>
            </a:r>
            <a:r>
              <a:rPr spc="-5" dirty="0"/>
              <a:t> </a:t>
            </a:r>
            <a:r>
              <a:rPr spc="10" dirty="0"/>
              <a:t>rights</a:t>
            </a:r>
            <a:r>
              <a:rPr dirty="0"/>
              <a:t> </a:t>
            </a:r>
            <a:r>
              <a:rPr spc="-10" dirty="0"/>
              <a:t>reserved.</a:t>
            </a:r>
            <a:r>
              <a:rPr dirty="0"/>
              <a:t>	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0041F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019"/>
              </a:lnSpc>
            </a:pPr>
            <a:r>
              <a:rPr spc="-20" dirty="0"/>
              <a:t>COBE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6666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915"/>
              </a:lnSpc>
              <a:tabLst>
                <a:tab pos="2410460" algn="l"/>
              </a:tabLst>
            </a:pPr>
            <a:r>
              <a:rPr spc="10" dirty="0"/>
              <a:t>Copyright</a:t>
            </a:r>
            <a:r>
              <a:rPr spc="-5" dirty="0"/>
              <a:t> </a:t>
            </a:r>
            <a:r>
              <a:rPr spc="85" dirty="0"/>
              <a:t>©</a:t>
            </a:r>
            <a:r>
              <a:rPr spc="-5" dirty="0"/>
              <a:t> </a:t>
            </a:r>
            <a:r>
              <a:rPr spc="10" dirty="0"/>
              <a:t>2022</a:t>
            </a:r>
            <a:r>
              <a:rPr spc="-5" dirty="0"/>
              <a:t> </a:t>
            </a:r>
            <a:r>
              <a:rPr spc="10" dirty="0"/>
              <a:t>Accenture.</a:t>
            </a:r>
            <a:r>
              <a:rPr spc="-5" dirty="0"/>
              <a:t> </a:t>
            </a:r>
            <a:r>
              <a:rPr spc="10" dirty="0"/>
              <a:t>All</a:t>
            </a:r>
            <a:r>
              <a:rPr spc="-5" dirty="0"/>
              <a:t> </a:t>
            </a:r>
            <a:r>
              <a:rPr spc="10" dirty="0"/>
              <a:t>rights</a:t>
            </a:r>
            <a:r>
              <a:rPr dirty="0"/>
              <a:t> </a:t>
            </a:r>
            <a:r>
              <a:rPr spc="-10" dirty="0"/>
              <a:t>reserved.</a:t>
            </a:r>
            <a:r>
              <a:rPr dirty="0"/>
              <a:t>	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0041F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019"/>
              </a:lnSpc>
            </a:pPr>
            <a:r>
              <a:rPr spc="-20" dirty="0"/>
              <a:t>COBE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6666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915"/>
              </a:lnSpc>
              <a:tabLst>
                <a:tab pos="2410460" algn="l"/>
              </a:tabLst>
            </a:pPr>
            <a:r>
              <a:rPr spc="10" dirty="0"/>
              <a:t>Copyright</a:t>
            </a:r>
            <a:r>
              <a:rPr spc="-5" dirty="0"/>
              <a:t> </a:t>
            </a:r>
            <a:r>
              <a:rPr spc="85" dirty="0"/>
              <a:t>©</a:t>
            </a:r>
            <a:r>
              <a:rPr spc="-5" dirty="0"/>
              <a:t> </a:t>
            </a:r>
            <a:r>
              <a:rPr spc="10" dirty="0"/>
              <a:t>2022</a:t>
            </a:r>
            <a:r>
              <a:rPr spc="-5" dirty="0"/>
              <a:t> </a:t>
            </a:r>
            <a:r>
              <a:rPr spc="10" dirty="0"/>
              <a:t>Accenture.</a:t>
            </a:r>
            <a:r>
              <a:rPr spc="-5" dirty="0"/>
              <a:t> </a:t>
            </a:r>
            <a:r>
              <a:rPr spc="10" dirty="0"/>
              <a:t>All</a:t>
            </a:r>
            <a:r>
              <a:rPr spc="-5" dirty="0"/>
              <a:t> </a:t>
            </a:r>
            <a:r>
              <a:rPr spc="10" dirty="0"/>
              <a:t>rights</a:t>
            </a:r>
            <a:r>
              <a:rPr dirty="0"/>
              <a:t> </a:t>
            </a:r>
            <a:r>
              <a:rPr spc="-10" dirty="0"/>
              <a:t>reserved.</a:t>
            </a:r>
            <a:r>
              <a:rPr dirty="0"/>
              <a:t>	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0041F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019"/>
              </a:lnSpc>
            </a:pPr>
            <a:r>
              <a:rPr spc="-20" dirty="0"/>
              <a:t>COBE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6666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915"/>
              </a:lnSpc>
              <a:tabLst>
                <a:tab pos="2410460" algn="l"/>
              </a:tabLst>
            </a:pPr>
            <a:r>
              <a:rPr spc="10" dirty="0"/>
              <a:t>Copyright</a:t>
            </a:r>
            <a:r>
              <a:rPr spc="-5" dirty="0"/>
              <a:t> </a:t>
            </a:r>
            <a:r>
              <a:rPr spc="85" dirty="0"/>
              <a:t>©</a:t>
            </a:r>
            <a:r>
              <a:rPr spc="-5" dirty="0"/>
              <a:t> </a:t>
            </a:r>
            <a:r>
              <a:rPr spc="10" dirty="0"/>
              <a:t>2022</a:t>
            </a:r>
            <a:r>
              <a:rPr spc="-5" dirty="0"/>
              <a:t> </a:t>
            </a:r>
            <a:r>
              <a:rPr spc="10" dirty="0"/>
              <a:t>Accenture.</a:t>
            </a:r>
            <a:r>
              <a:rPr spc="-5" dirty="0"/>
              <a:t> </a:t>
            </a:r>
            <a:r>
              <a:rPr spc="10" dirty="0"/>
              <a:t>All</a:t>
            </a:r>
            <a:r>
              <a:rPr spc="-5" dirty="0"/>
              <a:t> </a:t>
            </a:r>
            <a:r>
              <a:rPr spc="10" dirty="0"/>
              <a:t>rights</a:t>
            </a:r>
            <a:r>
              <a:rPr dirty="0"/>
              <a:t> </a:t>
            </a:r>
            <a:r>
              <a:rPr spc="-10" dirty="0"/>
              <a:t>reserved.</a:t>
            </a:r>
            <a:r>
              <a:rPr dirty="0"/>
              <a:t>	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0041F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019"/>
              </a:lnSpc>
            </a:pPr>
            <a:r>
              <a:rPr spc="-20" dirty="0"/>
              <a:t>COBE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6666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915"/>
              </a:lnSpc>
              <a:tabLst>
                <a:tab pos="2410460" algn="l"/>
              </a:tabLst>
            </a:pPr>
            <a:r>
              <a:rPr spc="10" dirty="0"/>
              <a:t>Copyright</a:t>
            </a:r>
            <a:r>
              <a:rPr spc="-5" dirty="0"/>
              <a:t> </a:t>
            </a:r>
            <a:r>
              <a:rPr spc="85" dirty="0"/>
              <a:t>©</a:t>
            </a:r>
            <a:r>
              <a:rPr spc="-5" dirty="0"/>
              <a:t> </a:t>
            </a:r>
            <a:r>
              <a:rPr spc="10" dirty="0"/>
              <a:t>2022</a:t>
            </a:r>
            <a:r>
              <a:rPr spc="-5" dirty="0"/>
              <a:t> </a:t>
            </a:r>
            <a:r>
              <a:rPr spc="10" dirty="0"/>
              <a:t>Accenture.</a:t>
            </a:r>
            <a:r>
              <a:rPr spc="-5" dirty="0"/>
              <a:t> </a:t>
            </a:r>
            <a:r>
              <a:rPr spc="10" dirty="0"/>
              <a:t>All</a:t>
            </a:r>
            <a:r>
              <a:rPr spc="-5" dirty="0"/>
              <a:t> </a:t>
            </a:r>
            <a:r>
              <a:rPr spc="10" dirty="0"/>
              <a:t>rights</a:t>
            </a:r>
            <a:r>
              <a:rPr dirty="0"/>
              <a:t> </a:t>
            </a:r>
            <a:r>
              <a:rPr spc="-10" dirty="0"/>
              <a:t>reserved.</a:t>
            </a:r>
            <a:r>
              <a:rPr dirty="0"/>
              <a:t>	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2912" y="638619"/>
            <a:ext cx="5600065" cy="772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5294" y="2334758"/>
            <a:ext cx="5892165" cy="6069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4500" y="9494202"/>
            <a:ext cx="357505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rgbClr val="0041F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019"/>
              </a:lnSpc>
            </a:pPr>
            <a:r>
              <a:rPr spc="-20" dirty="0"/>
              <a:t>COBE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842802" y="9495002"/>
            <a:ext cx="2523490" cy="12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66666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915"/>
              </a:lnSpc>
              <a:tabLst>
                <a:tab pos="2410460" algn="l"/>
              </a:tabLst>
            </a:pPr>
            <a:r>
              <a:rPr spc="10" dirty="0"/>
              <a:t>Copyright</a:t>
            </a:r>
            <a:r>
              <a:rPr spc="-5" dirty="0"/>
              <a:t> </a:t>
            </a:r>
            <a:r>
              <a:rPr spc="85" dirty="0"/>
              <a:t>©</a:t>
            </a:r>
            <a:r>
              <a:rPr spc="-5" dirty="0"/>
              <a:t> </a:t>
            </a:r>
            <a:r>
              <a:rPr spc="10" dirty="0"/>
              <a:t>2022</a:t>
            </a:r>
            <a:r>
              <a:rPr spc="-5" dirty="0"/>
              <a:t> </a:t>
            </a:r>
            <a:r>
              <a:rPr spc="10" dirty="0"/>
              <a:t>Accenture.</a:t>
            </a:r>
            <a:r>
              <a:rPr spc="-5" dirty="0"/>
              <a:t> </a:t>
            </a:r>
            <a:r>
              <a:rPr spc="10" dirty="0"/>
              <a:t>All</a:t>
            </a:r>
            <a:r>
              <a:rPr spc="-5" dirty="0"/>
              <a:t> </a:t>
            </a:r>
            <a:r>
              <a:rPr spc="10" dirty="0"/>
              <a:t>rights</a:t>
            </a:r>
            <a:r>
              <a:rPr dirty="0"/>
              <a:t> </a:t>
            </a:r>
            <a:r>
              <a:rPr spc="-10" dirty="0"/>
              <a:t>reserved.</a:t>
            </a:r>
            <a:r>
              <a:rPr dirty="0"/>
              <a:t>	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nlitics.com/" TargetMode="External"/><Relationship Id="rId2" Type="http://schemas.openxmlformats.org/officeDocument/2006/relationships/hyperlink" Target="https://www.google.com/maps/place/Manlitics+B2B+Ites+Private+Limited/@18.5996353,73.736006,2745m/data=!3m1!1e3!4m6!3m5!1s0x3bc2bfaaa75a3a2b:0x5bb8c44c94ea45b9!8m2!3d18.5923462!4d73.7336137!16s%2Fg%2F11j32c10q1?entry=ttu&amp;g_ep=EgoyMDI1MDEwNi4xIKXMDSoASAFQAw%3D%3D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mailto:Hr@manlitic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B12F75-4431-50C3-8687-721D7468E3B3}"/>
              </a:ext>
            </a:extLst>
          </p:cNvPr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gradFill flip="none" rotWithShape="1">
            <a:gsLst>
              <a:gs pos="0">
                <a:srgbClr val="B8EFE8">
                  <a:alpha val="36000"/>
                </a:srgbClr>
              </a:gs>
              <a:gs pos="55000">
                <a:srgbClr val="B8EFE8">
                  <a:alpha val="15000"/>
                </a:srgbClr>
              </a:gs>
              <a:gs pos="100000">
                <a:srgbClr val="0992D8">
                  <a:alpha val="1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5355" y="1178357"/>
            <a:ext cx="5724045" cy="35529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60"/>
              </a:spcBef>
            </a:pPr>
            <a:r>
              <a:rPr lang="en-IN" sz="1600" dirty="0">
                <a:latin typeface="+mj-lt"/>
              </a:rPr>
              <a:t>Job Title: </a:t>
            </a:r>
            <a:r>
              <a:rPr lang="en-IN" sz="1600" b="0" dirty="0">
                <a:latin typeface="+mj-lt"/>
              </a:rPr>
              <a:t>Quality Analyst (B2B-IT)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5355" y="1669986"/>
            <a:ext cx="5929630" cy="667105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r>
              <a:rPr lang="en-GB" sz="1600" b="1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Summary: </a:t>
            </a:r>
            <a:r>
              <a:rPr lang="en-GB" sz="1200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The Quality Analyst plays a crucial role in ensuring the delivery of high-quality leads by evaluating and improving processes, monitoring performance, and identifying areas for improvement.</a:t>
            </a:r>
          </a:p>
          <a:p>
            <a:endParaRPr lang="en-GB" sz="1200" dirty="0">
              <a:latin typeface="+mj-lt"/>
              <a:ea typeface="Microsoft GothicNeo" panose="020B0500000101010101" pitchFamily="34" charset="-127"/>
              <a:cs typeface="Arial" panose="020B0604020202020204" pitchFamily="34" charset="0"/>
            </a:endParaRPr>
          </a:p>
          <a:p>
            <a:endParaRPr lang="en-GB" sz="1600" b="1" dirty="0">
              <a:latin typeface="+mj-lt"/>
              <a:ea typeface="Microsoft GothicNeo" panose="020B0500000101010101" pitchFamily="34" charset="-127"/>
              <a:cs typeface="Arial" panose="020B0604020202020204" pitchFamily="34" charset="0"/>
            </a:endParaRPr>
          </a:p>
          <a:p>
            <a:r>
              <a:rPr lang="en-GB" sz="1600" b="1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Minimum Eligibility Criteria:</a:t>
            </a:r>
            <a:endParaRPr lang="en-GB" sz="1600" dirty="0">
              <a:latin typeface="+mj-lt"/>
              <a:ea typeface="Microsoft GothicNeo" panose="020B0500000101010101" pitchFamily="34" charset="-127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Bachelor's degree.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Excellent communication, interpersonal, and analytical skills.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Experience as an QA in B2B-IT company.</a:t>
            </a:r>
          </a:p>
          <a:p>
            <a:endParaRPr lang="en-GB" sz="1600" b="1" dirty="0">
              <a:latin typeface="+mj-lt"/>
              <a:ea typeface="Microsoft GothicNeo" panose="020B0500000101010101" pitchFamily="34" charset="-127"/>
              <a:cs typeface="Arial" panose="020B0604020202020204" pitchFamily="34" charset="0"/>
            </a:endParaRPr>
          </a:p>
          <a:p>
            <a:endParaRPr lang="en-GB" sz="1600" b="1" dirty="0">
              <a:latin typeface="+mj-lt"/>
              <a:ea typeface="Microsoft GothicNeo" panose="020B0500000101010101" pitchFamily="34" charset="-127"/>
              <a:cs typeface="Arial" panose="020B0604020202020204" pitchFamily="34" charset="0"/>
            </a:endParaRPr>
          </a:p>
          <a:p>
            <a:r>
              <a:rPr lang="en-GB" sz="1600" b="1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Key Responsibilities:</a:t>
            </a:r>
            <a:endParaRPr lang="en-GB" sz="1600" dirty="0">
              <a:latin typeface="+mj-lt"/>
              <a:ea typeface="Microsoft GothicNeo" panose="020B0500000101010101" pitchFamily="34" charset="-127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Quality Assurance:</a:t>
            </a:r>
            <a:r>
              <a:rPr lang="en-GB" sz="1200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 Conduct quality audits, analyse data, and identify areas for improvement in lead quality and operational efficiency.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Performance Monitoring:</a:t>
            </a:r>
            <a:r>
              <a:rPr lang="en-GB" sz="1200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 Track key performance indicators (KPIs) and monitor performance against established standards.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Issue Resolution:</a:t>
            </a:r>
            <a:r>
              <a:rPr lang="en-GB" sz="1200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 Investigate and resolve quality issues, implement corrective actions, and prevent recurrence.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Collaboration:</a:t>
            </a:r>
            <a:r>
              <a:rPr lang="en-GB" sz="1200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 Work closely with cross-functional teams to drive quality improvements.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Training &amp; Guidance:</a:t>
            </a:r>
            <a:r>
              <a:rPr lang="en-GB" sz="1200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 Provide training and guidance to employees on quality management best practices.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Documentation:</a:t>
            </a:r>
            <a:r>
              <a:rPr lang="en-GB" sz="1200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 Maintain accurate records and reports related to quality assurance activities.</a:t>
            </a:r>
          </a:p>
          <a:p>
            <a:endParaRPr lang="en-GB" sz="1200" dirty="0">
              <a:latin typeface="+mj-lt"/>
              <a:ea typeface="Microsoft GothicNeo" panose="020B0500000101010101" pitchFamily="34" charset="-127"/>
              <a:cs typeface="Arial" panose="020B0604020202020204" pitchFamily="34" charset="0"/>
            </a:endParaRPr>
          </a:p>
          <a:p>
            <a:endParaRPr lang="en-GB" sz="1200" dirty="0">
              <a:latin typeface="+mj-lt"/>
              <a:ea typeface="Microsoft GothicNeo" panose="020B0500000101010101" pitchFamily="34" charset="-127"/>
              <a:cs typeface="Arial" panose="020B0604020202020204" pitchFamily="34" charset="0"/>
            </a:endParaRPr>
          </a:p>
          <a:p>
            <a:r>
              <a:rPr lang="en-GB" sz="1400" b="1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Openings</a:t>
            </a:r>
            <a:r>
              <a:rPr lang="en-GB" sz="1600" b="1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: </a:t>
            </a:r>
            <a:r>
              <a:rPr lang="en-GB" sz="1200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15</a:t>
            </a:r>
          </a:p>
          <a:p>
            <a:r>
              <a:rPr lang="en-GB" sz="1400" b="1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Shift Timings: </a:t>
            </a:r>
            <a:r>
              <a:rPr lang="en-GB" sz="1200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Rotational Shifts (Night Shifts)</a:t>
            </a:r>
            <a:br>
              <a:rPr lang="en-GB" sz="1200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</a:br>
            <a:r>
              <a:rPr lang="en-GB" sz="1400" b="1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Location: </a:t>
            </a:r>
            <a:r>
              <a:rPr lang="en-GB" sz="1200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J.K Infotech, Rajiv Gandhi MIDC Rd, Phase 1, Hinjewadi Rajiv Gandhi Infotech Park, Hinjewadi, Pimpri-Chinchwad, Maharashtra 411057, India - </a:t>
            </a:r>
            <a:r>
              <a:rPr lang="en-GB" sz="1200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  <a:hlinkClick r:id="rId2"/>
              </a:rPr>
              <a:t>Google Maps</a:t>
            </a:r>
            <a:endParaRPr lang="en-GB" sz="1200" dirty="0">
              <a:latin typeface="+mj-lt"/>
              <a:ea typeface="Microsoft GothicNeo" panose="020B0500000101010101" pitchFamily="34" charset="-127"/>
              <a:cs typeface="Arial" panose="020B0604020202020204" pitchFamily="34" charset="0"/>
            </a:endParaRPr>
          </a:p>
          <a:p>
            <a:r>
              <a:rPr lang="en-GB" sz="1400" b="1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About Company: </a:t>
            </a:r>
            <a:r>
              <a:rPr lang="en-GB" sz="1200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  <a:hlinkClick r:id="rId3"/>
              </a:rPr>
              <a:t>https://www.manlitics.com/</a:t>
            </a:r>
            <a:r>
              <a:rPr lang="en-GB" sz="1200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 </a:t>
            </a:r>
          </a:p>
          <a:p>
            <a:r>
              <a:rPr lang="en-GB" sz="1400" b="1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Contact us: </a:t>
            </a:r>
            <a:r>
              <a:rPr lang="en-GB" sz="1200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  <a:hlinkClick r:id="rId4"/>
              </a:rPr>
              <a:t>Hr@manlitics.com</a:t>
            </a:r>
            <a:r>
              <a:rPr lang="en-GB" sz="1200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  <a:t> | +91- 73910 94394 </a:t>
            </a:r>
          </a:p>
          <a:p>
            <a:br>
              <a:rPr lang="en-GB" sz="1200" dirty="0">
                <a:latin typeface="+mj-lt"/>
                <a:ea typeface="Microsoft GothicNeo" panose="020B0500000101010101" pitchFamily="34" charset="-127"/>
                <a:cs typeface="Arial" panose="020B0604020202020204" pitchFamily="34" charset="0"/>
              </a:rPr>
            </a:br>
            <a:endParaRPr lang="en-GB" sz="1200" dirty="0">
              <a:latin typeface="+mj-lt"/>
              <a:ea typeface="Microsoft GothicNeo" panose="020B05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63525" y="421384"/>
            <a:ext cx="950594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000" dirty="0">
                <a:solidFill>
                  <a:srgbClr val="666666"/>
                </a:solidFill>
                <a:latin typeface="Arial MT"/>
                <a:cs typeface="Arial MT"/>
              </a:rPr>
              <a:t>QA-JD-2025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02500" y="457200"/>
            <a:ext cx="0" cy="104775"/>
          </a:xfrm>
          <a:custGeom>
            <a:avLst/>
            <a:gdLst/>
            <a:ahLst/>
            <a:cxnLst/>
            <a:rect l="l" t="t" r="r" b="b"/>
            <a:pathLst>
              <a:path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ln w="25400">
            <a:solidFill>
              <a:srgbClr val="0992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9">
            <a:extLst>
              <a:ext uri="{FF2B5EF4-FFF2-40B4-BE49-F238E27FC236}">
                <a16:creationId xmlns:a16="http://schemas.microsoft.com/office/drawing/2014/main" id="{BED37BB3-62B1-0AAA-4F17-D116B907F64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4842802" y="9495002"/>
            <a:ext cx="2523490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5"/>
              </a:lnSpc>
              <a:tabLst>
                <a:tab pos="2410460" algn="l"/>
              </a:tabLst>
            </a:pPr>
            <a:r>
              <a:rPr spc="10" dirty="0"/>
              <a:t>Copyright</a:t>
            </a:r>
            <a:r>
              <a:rPr spc="-5" dirty="0"/>
              <a:t> </a:t>
            </a:r>
            <a:r>
              <a:rPr spc="85" dirty="0"/>
              <a:t>©</a:t>
            </a:r>
            <a:r>
              <a:rPr spc="-5" dirty="0"/>
              <a:t> </a:t>
            </a:r>
            <a:r>
              <a:rPr spc="10" dirty="0"/>
              <a:t>202</a:t>
            </a:r>
            <a:r>
              <a:rPr lang="en-GB" spc="10" dirty="0"/>
              <a:t>5</a:t>
            </a:r>
            <a:r>
              <a:rPr spc="-5" dirty="0"/>
              <a:t> </a:t>
            </a:r>
            <a:r>
              <a:rPr lang="en-GB" spc="10" dirty="0"/>
              <a:t>Manlitics</a:t>
            </a:r>
            <a:r>
              <a:rPr spc="10" dirty="0"/>
              <a:t>.</a:t>
            </a:r>
            <a:r>
              <a:rPr spc="-5" dirty="0"/>
              <a:t> </a:t>
            </a:r>
            <a:r>
              <a:rPr spc="10" dirty="0"/>
              <a:t>All</a:t>
            </a:r>
            <a:r>
              <a:rPr spc="-5" dirty="0"/>
              <a:t> </a:t>
            </a:r>
            <a:r>
              <a:rPr spc="10" dirty="0"/>
              <a:t>rights</a:t>
            </a:r>
            <a:r>
              <a:rPr dirty="0"/>
              <a:t> </a:t>
            </a:r>
            <a:r>
              <a:rPr spc="-10" dirty="0"/>
              <a:t>reserved.</a:t>
            </a:r>
            <a:r>
              <a:rPr dirty="0"/>
              <a:t>	</a:t>
            </a: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pic>
        <p:nvPicPr>
          <p:cNvPr id="8" name="Picture 7" descr="A blue and black logo&#10;&#10;Description automatically generated">
            <a:extLst>
              <a:ext uri="{FF2B5EF4-FFF2-40B4-BE49-F238E27FC236}">
                <a16:creationId xmlns:a16="http://schemas.microsoft.com/office/drawing/2014/main" id="{54AC80A6-FED9-5F3A-0278-60ED139F404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355" y="374842"/>
            <a:ext cx="1075845" cy="3109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1644</TotalTime>
  <Words>246</Words>
  <Application>Microsoft Office PowerPoint</Application>
  <PresentationFormat>Custom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MT</vt:lpstr>
      <vt:lpstr>Tahoma</vt:lpstr>
      <vt:lpstr>Office Theme</vt:lpstr>
      <vt:lpstr>Job Title: Quality Analyst (B2B-IT)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Accenture Code of Business Ethics | Accenture</dc:title>
  <dc:subject>Accenture's Code of Business Ethics</dc:subject>
  <dc:creator>Accenture</dc:creator>
  <cp:keywords>Code of Business Ethics, Ethics, Make Your Conduct Count, COBE, Accenture, Compliance &amp; Ethics, Anticorruption, Confidentiality, Data Privacy, Non-retaliation, non-descrimination, metaverse, core values</cp:keywords>
  <cp:lastModifiedBy>Office 5</cp:lastModifiedBy>
  <cp:revision>251</cp:revision>
  <dcterms:created xsi:type="dcterms:W3CDTF">2025-01-07T11:26:00Z</dcterms:created>
  <dcterms:modified xsi:type="dcterms:W3CDTF">2025-01-09T09:44:17Z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2021-12-09T00:00:00Z</vt:filetime>
  </property>
  <property fmtid="{D5CDD505-2E9C-101B-9397-08002B2CF9AE}" pid="3" name="Creator">
    <vt:lpwstr>Adobe InDesign 16.4 (Windows)</vt:lpwstr>
  </property>
  <property fmtid="{D5CDD505-2E9C-101B-9397-08002B2CF9AE}" pid="4" name="LastSaved">
    <vt:filetime>2025-01-07T00:00:00Z</vt:filetime>
  </property>
  <property fmtid="{D5CDD505-2E9C-101B-9397-08002B2CF9AE}" pid="5" name="Producer">
    <vt:lpwstr>Adobe PDF Library 16.0</vt:lpwstr>
  </property>
</Properties>
</file>