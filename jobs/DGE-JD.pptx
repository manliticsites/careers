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9" r:id="rId2"/>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92D8"/>
    <a:srgbClr val="0C94D8"/>
    <a:srgbClr val="76CDE2"/>
    <a:srgbClr val="64DDCF"/>
    <a:srgbClr val="B8EF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0" d="100"/>
          <a:sy n="90" d="100"/>
        </p:scale>
        <p:origin x="1200" y="-3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sz="2400" b="1" i="0">
                <a:solidFill>
                  <a:schemeClr val="tx1"/>
                </a:solidFill>
                <a:latin typeface="Tahoma"/>
                <a:cs typeface="Tahoma"/>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sz="1800" b="1"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900" b="1" i="0">
                <a:solidFill>
                  <a:srgbClr val="0041F0"/>
                </a:solidFill>
                <a:latin typeface="Tahoma"/>
                <a:cs typeface="Tahoma"/>
              </a:defRPr>
            </a:lvl1pPr>
          </a:lstStyle>
          <a:p>
            <a:pPr marL="12700">
              <a:lnSpc>
                <a:spcPts val="1019"/>
              </a:lnSpc>
            </a:pPr>
            <a:r>
              <a:rPr spc="-20" dirty="0"/>
              <a:t>COBE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1/9/2025</a:t>
            </a:fld>
            <a:endParaRPr lang="en-US"/>
          </a:p>
        </p:txBody>
      </p:sp>
      <p:sp>
        <p:nvSpPr>
          <p:cNvPr id="6" name="Holder 6"/>
          <p:cNvSpPr>
            <a:spLocks noGrp="1"/>
          </p:cNvSpPr>
          <p:nvPr>
            <p:ph type="sldNum" sz="quarter" idx="7"/>
          </p:nvPr>
        </p:nvSpPr>
        <p:spPr/>
        <p:txBody>
          <a:bodyPr lIns="0" tIns="0" rIns="0" bIns="0"/>
          <a:lstStyle>
            <a:lvl1pPr>
              <a:defRPr sz="800" b="0" i="0">
                <a:solidFill>
                  <a:srgbClr val="666666"/>
                </a:solidFill>
                <a:latin typeface="Arial MT"/>
                <a:cs typeface="Arial MT"/>
              </a:defRPr>
            </a:lvl1pPr>
          </a:lstStyle>
          <a:p>
            <a:pPr marL="12700">
              <a:lnSpc>
                <a:spcPts val="915"/>
              </a:lnSpc>
              <a:tabLst>
                <a:tab pos="2410460" algn="l"/>
              </a:tabLst>
            </a:pPr>
            <a:r>
              <a:rPr spc="10" dirty="0"/>
              <a:t>Copyright</a:t>
            </a:r>
            <a:r>
              <a:rPr spc="-5" dirty="0"/>
              <a:t> </a:t>
            </a:r>
            <a:r>
              <a:rPr spc="85" dirty="0"/>
              <a:t>©</a:t>
            </a:r>
            <a:r>
              <a:rPr spc="-5" dirty="0"/>
              <a:t> </a:t>
            </a:r>
            <a:r>
              <a:rPr spc="10" dirty="0"/>
              <a:t>2022</a:t>
            </a:r>
            <a:r>
              <a:rPr spc="-5" dirty="0"/>
              <a:t> </a:t>
            </a:r>
            <a:r>
              <a:rPr spc="10" dirty="0"/>
              <a:t>Accenture.</a:t>
            </a:r>
            <a:r>
              <a:rPr spc="-5" dirty="0"/>
              <a:t> </a:t>
            </a:r>
            <a:r>
              <a:rPr spc="10" dirty="0"/>
              <a:t>All</a:t>
            </a:r>
            <a:r>
              <a:rPr spc="-5" dirty="0"/>
              <a:t> </a:t>
            </a:r>
            <a:r>
              <a:rPr spc="10" dirty="0"/>
              <a:t>rights</a:t>
            </a:r>
            <a:r>
              <a:rPr dirty="0"/>
              <a:t> </a:t>
            </a:r>
            <a:r>
              <a:rPr spc="-10" dirty="0"/>
              <a:t>reserved.</a:t>
            </a:r>
            <a:r>
              <a:rPr dirty="0"/>
              <a:t>	</a:t>
            </a: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800" b="1"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900" b="1" i="0">
                <a:solidFill>
                  <a:srgbClr val="0041F0"/>
                </a:solidFill>
                <a:latin typeface="Tahoma"/>
                <a:cs typeface="Tahoma"/>
              </a:defRPr>
            </a:lvl1pPr>
          </a:lstStyle>
          <a:p>
            <a:pPr marL="12700">
              <a:lnSpc>
                <a:spcPts val="1019"/>
              </a:lnSpc>
            </a:pPr>
            <a:r>
              <a:rPr spc="-20" dirty="0"/>
              <a:t>COBE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1/9/2025</a:t>
            </a:fld>
            <a:endParaRPr lang="en-US"/>
          </a:p>
        </p:txBody>
      </p:sp>
      <p:sp>
        <p:nvSpPr>
          <p:cNvPr id="6" name="Holder 6"/>
          <p:cNvSpPr>
            <a:spLocks noGrp="1"/>
          </p:cNvSpPr>
          <p:nvPr>
            <p:ph type="sldNum" sz="quarter" idx="7"/>
          </p:nvPr>
        </p:nvSpPr>
        <p:spPr/>
        <p:txBody>
          <a:bodyPr lIns="0" tIns="0" rIns="0" bIns="0"/>
          <a:lstStyle>
            <a:lvl1pPr>
              <a:defRPr sz="800" b="0" i="0">
                <a:solidFill>
                  <a:srgbClr val="666666"/>
                </a:solidFill>
                <a:latin typeface="Arial MT"/>
                <a:cs typeface="Arial MT"/>
              </a:defRPr>
            </a:lvl1pPr>
          </a:lstStyle>
          <a:p>
            <a:pPr marL="12700">
              <a:lnSpc>
                <a:spcPts val="915"/>
              </a:lnSpc>
              <a:tabLst>
                <a:tab pos="2410460" algn="l"/>
              </a:tabLst>
            </a:pPr>
            <a:r>
              <a:rPr spc="10" dirty="0"/>
              <a:t>Copyright</a:t>
            </a:r>
            <a:r>
              <a:rPr spc="-5" dirty="0"/>
              <a:t> </a:t>
            </a:r>
            <a:r>
              <a:rPr spc="85" dirty="0"/>
              <a:t>©</a:t>
            </a:r>
            <a:r>
              <a:rPr spc="-5" dirty="0"/>
              <a:t> </a:t>
            </a:r>
            <a:r>
              <a:rPr spc="10" dirty="0"/>
              <a:t>2022</a:t>
            </a:r>
            <a:r>
              <a:rPr spc="-5" dirty="0"/>
              <a:t> </a:t>
            </a:r>
            <a:r>
              <a:rPr spc="10" dirty="0"/>
              <a:t>Accenture.</a:t>
            </a:r>
            <a:r>
              <a:rPr spc="-5" dirty="0"/>
              <a:t> </a:t>
            </a:r>
            <a:r>
              <a:rPr spc="10" dirty="0"/>
              <a:t>All</a:t>
            </a:r>
            <a:r>
              <a:rPr spc="-5" dirty="0"/>
              <a:t> </a:t>
            </a:r>
            <a:r>
              <a:rPr spc="10" dirty="0"/>
              <a:t>rights</a:t>
            </a:r>
            <a:r>
              <a:rPr dirty="0"/>
              <a:t> </a:t>
            </a:r>
            <a:r>
              <a:rPr spc="-10" dirty="0"/>
              <a:t>reserved.</a:t>
            </a:r>
            <a:r>
              <a:rPr dirty="0"/>
              <a:t>	</a:t>
            </a: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ahoma"/>
                <a:cs typeface="Tahoma"/>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1" i="0">
                <a:solidFill>
                  <a:srgbClr val="0041F0"/>
                </a:solidFill>
                <a:latin typeface="Tahoma"/>
                <a:cs typeface="Tahoma"/>
              </a:defRPr>
            </a:lvl1pPr>
          </a:lstStyle>
          <a:p>
            <a:pPr marL="12700">
              <a:lnSpc>
                <a:spcPts val="1019"/>
              </a:lnSpc>
            </a:pPr>
            <a:r>
              <a:rPr spc="-20" dirty="0"/>
              <a:t>COBE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1/9/2025</a:t>
            </a:fld>
            <a:endParaRPr lang="en-US"/>
          </a:p>
        </p:txBody>
      </p:sp>
      <p:sp>
        <p:nvSpPr>
          <p:cNvPr id="7" name="Holder 7"/>
          <p:cNvSpPr>
            <a:spLocks noGrp="1"/>
          </p:cNvSpPr>
          <p:nvPr>
            <p:ph type="sldNum" sz="quarter" idx="7"/>
          </p:nvPr>
        </p:nvSpPr>
        <p:spPr/>
        <p:txBody>
          <a:bodyPr lIns="0" tIns="0" rIns="0" bIns="0"/>
          <a:lstStyle>
            <a:lvl1pPr>
              <a:defRPr sz="800" b="0" i="0">
                <a:solidFill>
                  <a:srgbClr val="666666"/>
                </a:solidFill>
                <a:latin typeface="Arial MT"/>
                <a:cs typeface="Arial MT"/>
              </a:defRPr>
            </a:lvl1pPr>
          </a:lstStyle>
          <a:p>
            <a:pPr marL="12700">
              <a:lnSpc>
                <a:spcPts val="915"/>
              </a:lnSpc>
              <a:tabLst>
                <a:tab pos="2410460" algn="l"/>
              </a:tabLst>
            </a:pPr>
            <a:r>
              <a:rPr spc="10" dirty="0"/>
              <a:t>Copyright</a:t>
            </a:r>
            <a:r>
              <a:rPr spc="-5" dirty="0"/>
              <a:t> </a:t>
            </a:r>
            <a:r>
              <a:rPr spc="85" dirty="0"/>
              <a:t>©</a:t>
            </a:r>
            <a:r>
              <a:rPr spc="-5" dirty="0"/>
              <a:t> </a:t>
            </a:r>
            <a:r>
              <a:rPr spc="10" dirty="0"/>
              <a:t>2022</a:t>
            </a:r>
            <a:r>
              <a:rPr spc="-5" dirty="0"/>
              <a:t> </a:t>
            </a:r>
            <a:r>
              <a:rPr spc="10" dirty="0"/>
              <a:t>Accenture.</a:t>
            </a:r>
            <a:r>
              <a:rPr spc="-5" dirty="0"/>
              <a:t> </a:t>
            </a:r>
            <a:r>
              <a:rPr spc="10" dirty="0"/>
              <a:t>All</a:t>
            </a:r>
            <a:r>
              <a:rPr spc="-5" dirty="0"/>
              <a:t> </a:t>
            </a:r>
            <a:r>
              <a:rPr spc="10" dirty="0"/>
              <a:t>rights</a:t>
            </a:r>
            <a:r>
              <a:rPr dirty="0"/>
              <a:t> </a:t>
            </a:r>
            <a:r>
              <a:rPr spc="-10" dirty="0"/>
              <a:t>reserved.</a:t>
            </a:r>
            <a:r>
              <a:rPr dirty="0"/>
              <a:t>	</a:t>
            </a: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7772400" cy="10058400"/>
          </a:xfrm>
          <a:prstGeom prst="rect">
            <a:avLst/>
          </a:prstGeom>
        </p:spPr>
      </p:pic>
      <p:sp>
        <p:nvSpPr>
          <p:cNvPr id="2" name="Holder 2"/>
          <p:cNvSpPr>
            <a:spLocks noGrp="1"/>
          </p:cNvSpPr>
          <p:nvPr>
            <p:ph type="title"/>
          </p:nvPr>
        </p:nvSpPr>
        <p:spPr/>
        <p:txBody>
          <a:bodyPr lIns="0" tIns="0" rIns="0" bIns="0"/>
          <a:lstStyle>
            <a:lvl1pPr>
              <a:defRPr sz="2400" b="1"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900" b="1" i="0">
                <a:solidFill>
                  <a:srgbClr val="0041F0"/>
                </a:solidFill>
                <a:latin typeface="Tahoma"/>
                <a:cs typeface="Tahoma"/>
              </a:defRPr>
            </a:lvl1pPr>
          </a:lstStyle>
          <a:p>
            <a:pPr marL="12700">
              <a:lnSpc>
                <a:spcPts val="1019"/>
              </a:lnSpc>
            </a:pPr>
            <a:r>
              <a:rPr spc="-20" dirty="0"/>
              <a:t>COBE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1/9/2025</a:t>
            </a:fld>
            <a:endParaRPr lang="en-US"/>
          </a:p>
        </p:txBody>
      </p:sp>
      <p:sp>
        <p:nvSpPr>
          <p:cNvPr id="5" name="Holder 5"/>
          <p:cNvSpPr>
            <a:spLocks noGrp="1"/>
          </p:cNvSpPr>
          <p:nvPr>
            <p:ph type="sldNum" sz="quarter" idx="7"/>
          </p:nvPr>
        </p:nvSpPr>
        <p:spPr/>
        <p:txBody>
          <a:bodyPr lIns="0" tIns="0" rIns="0" bIns="0"/>
          <a:lstStyle>
            <a:lvl1pPr>
              <a:defRPr sz="800" b="0" i="0">
                <a:solidFill>
                  <a:srgbClr val="666666"/>
                </a:solidFill>
                <a:latin typeface="Arial MT"/>
                <a:cs typeface="Arial MT"/>
              </a:defRPr>
            </a:lvl1pPr>
          </a:lstStyle>
          <a:p>
            <a:pPr marL="12700">
              <a:lnSpc>
                <a:spcPts val="915"/>
              </a:lnSpc>
              <a:tabLst>
                <a:tab pos="2410460" algn="l"/>
              </a:tabLst>
            </a:pPr>
            <a:r>
              <a:rPr spc="10" dirty="0"/>
              <a:t>Copyright</a:t>
            </a:r>
            <a:r>
              <a:rPr spc="-5" dirty="0"/>
              <a:t> </a:t>
            </a:r>
            <a:r>
              <a:rPr spc="85" dirty="0"/>
              <a:t>©</a:t>
            </a:r>
            <a:r>
              <a:rPr spc="-5" dirty="0"/>
              <a:t> </a:t>
            </a:r>
            <a:r>
              <a:rPr spc="10" dirty="0"/>
              <a:t>2022</a:t>
            </a:r>
            <a:r>
              <a:rPr spc="-5" dirty="0"/>
              <a:t> </a:t>
            </a:r>
            <a:r>
              <a:rPr spc="10" dirty="0"/>
              <a:t>Accenture.</a:t>
            </a:r>
            <a:r>
              <a:rPr spc="-5" dirty="0"/>
              <a:t> </a:t>
            </a:r>
            <a:r>
              <a:rPr spc="10" dirty="0"/>
              <a:t>All</a:t>
            </a:r>
            <a:r>
              <a:rPr spc="-5" dirty="0"/>
              <a:t> </a:t>
            </a:r>
            <a:r>
              <a:rPr spc="10" dirty="0"/>
              <a:t>rights</a:t>
            </a:r>
            <a:r>
              <a:rPr dirty="0"/>
              <a:t> </a:t>
            </a:r>
            <a:r>
              <a:rPr spc="-10" dirty="0"/>
              <a:t>reserved.</a:t>
            </a:r>
            <a:r>
              <a:rPr dirty="0"/>
              <a:t>	</a:t>
            </a: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1" i="0">
                <a:solidFill>
                  <a:srgbClr val="0041F0"/>
                </a:solidFill>
                <a:latin typeface="Tahoma"/>
                <a:cs typeface="Tahoma"/>
              </a:defRPr>
            </a:lvl1pPr>
          </a:lstStyle>
          <a:p>
            <a:pPr marL="12700">
              <a:lnSpc>
                <a:spcPts val="1019"/>
              </a:lnSpc>
            </a:pPr>
            <a:r>
              <a:rPr spc="-20" dirty="0"/>
              <a:t>COBE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1/9/2025</a:t>
            </a:fld>
            <a:endParaRPr lang="en-US"/>
          </a:p>
        </p:txBody>
      </p:sp>
      <p:sp>
        <p:nvSpPr>
          <p:cNvPr id="4" name="Holder 4"/>
          <p:cNvSpPr>
            <a:spLocks noGrp="1"/>
          </p:cNvSpPr>
          <p:nvPr>
            <p:ph type="sldNum" sz="quarter" idx="7"/>
          </p:nvPr>
        </p:nvSpPr>
        <p:spPr/>
        <p:txBody>
          <a:bodyPr lIns="0" tIns="0" rIns="0" bIns="0"/>
          <a:lstStyle>
            <a:lvl1pPr>
              <a:defRPr sz="800" b="0" i="0">
                <a:solidFill>
                  <a:srgbClr val="666666"/>
                </a:solidFill>
                <a:latin typeface="Arial MT"/>
                <a:cs typeface="Arial MT"/>
              </a:defRPr>
            </a:lvl1pPr>
          </a:lstStyle>
          <a:p>
            <a:pPr marL="12700">
              <a:lnSpc>
                <a:spcPts val="915"/>
              </a:lnSpc>
              <a:tabLst>
                <a:tab pos="2410460" algn="l"/>
              </a:tabLst>
            </a:pPr>
            <a:r>
              <a:rPr spc="10" dirty="0"/>
              <a:t>Copyright</a:t>
            </a:r>
            <a:r>
              <a:rPr spc="-5" dirty="0"/>
              <a:t> </a:t>
            </a:r>
            <a:r>
              <a:rPr spc="85" dirty="0"/>
              <a:t>©</a:t>
            </a:r>
            <a:r>
              <a:rPr spc="-5" dirty="0"/>
              <a:t> </a:t>
            </a:r>
            <a:r>
              <a:rPr spc="10" dirty="0"/>
              <a:t>2022</a:t>
            </a:r>
            <a:r>
              <a:rPr spc="-5" dirty="0"/>
              <a:t> </a:t>
            </a:r>
            <a:r>
              <a:rPr spc="10" dirty="0"/>
              <a:t>Accenture.</a:t>
            </a:r>
            <a:r>
              <a:rPr spc="-5" dirty="0"/>
              <a:t> </a:t>
            </a:r>
            <a:r>
              <a:rPr spc="10" dirty="0"/>
              <a:t>All</a:t>
            </a:r>
            <a:r>
              <a:rPr spc="-5" dirty="0"/>
              <a:t> </a:t>
            </a:r>
            <a:r>
              <a:rPr spc="10" dirty="0"/>
              <a:t>rights</a:t>
            </a:r>
            <a:r>
              <a:rPr dirty="0"/>
              <a:t> </a:t>
            </a:r>
            <a:r>
              <a:rPr spc="-10" dirty="0"/>
              <a:t>reserved.</a:t>
            </a:r>
            <a:r>
              <a:rPr dirty="0"/>
              <a:t>	</a:t>
            </a: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2912" y="638619"/>
            <a:ext cx="5600065" cy="772160"/>
          </a:xfrm>
          <a:prstGeom prst="rect">
            <a:avLst/>
          </a:prstGeom>
        </p:spPr>
        <p:txBody>
          <a:bodyPr wrap="square" lIns="0" tIns="0" rIns="0" bIns="0">
            <a:spAutoFit/>
          </a:bodyPr>
          <a:lstStyle>
            <a:lvl1pPr>
              <a:defRPr sz="2400" b="1" i="0">
                <a:solidFill>
                  <a:schemeClr val="tx1"/>
                </a:solidFill>
                <a:latin typeface="Tahoma"/>
                <a:cs typeface="Tahoma"/>
              </a:defRPr>
            </a:lvl1pPr>
          </a:lstStyle>
          <a:p>
            <a:endParaRPr/>
          </a:p>
        </p:txBody>
      </p:sp>
      <p:sp>
        <p:nvSpPr>
          <p:cNvPr id="3" name="Holder 3"/>
          <p:cNvSpPr>
            <a:spLocks noGrp="1"/>
          </p:cNvSpPr>
          <p:nvPr>
            <p:ph type="body" idx="1"/>
          </p:nvPr>
        </p:nvSpPr>
        <p:spPr>
          <a:xfrm>
            <a:off x="905294" y="2334758"/>
            <a:ext cx="5892165" cy="6069330"/>
          </a:xfrm>
          <a:prstGeom prst="rect">
            <a:avLst/>
          </a:prstGeom>
        </p:spPr>
        <p:txBody>
          <a:bodyPr wrap="square" lIns="0" tIns="0" rIns="0" bIns="0">
            <a:spAutoFit/>
          </a:bodyPr>
          <a:lstStyle>
            <a:lvl1pPr>
              <a:defRPr sz="1800" b="1" i="0">
                <a:solidFill>
                  <a:schemeClr val="tx1"/>
                </a:solidFill>
                <a:latin typeface="Tahoma"/>
                <a:cs typeface="Tahoma"/>
              </a:defRPr>
            </a:lvl1pPr>
          </a:lstStyle>
          <a:p>
            <a:endParaRPr/>
          </a:p>
        </p:txBody>
      </p:sp>
      <p:sp>
        <p:nvSpPr>
          <p:cNvPr id="4" name="Holder 4"/>
          <p:cNvSpPr>
            <a:spLocks noGrp="1"/>
          </p:cNvSpPr>
          <p:nvPr>
            <p:ph type="ftr" sz="quarter" idx="5"/>
          </p:nvPr>
        </p:nvSpPr>
        <p:spPr>
          <a:xfrm>
            <a:off x="444500" y="9494202"/>
            <a:ext cx="357505" cy="139700"/>
          </a:xfrm>
          <a:prstGeom prst="rect">
            <a:avLst/>
          </a:prstGeom>
        </p:spPr>
        <p:txBody>
          <a:bodyPr wrap="square" lIns="0" tIns="0" rIns="0" bIns="0">
            <a:spAutoFit/>
          </a:bodyPr>
          <a:lstStyle>
            <a:lvl1pPr>
              <a:defRPr sz="900" b="1" i="0">
                <a:solidFill>
                  <a:srgbClr val="0041F0"/>
                </a:solidFill>
                <a:latin typeface="Tahoma"/>
                <a:cs typeface="Tahoma"/>
              </a:defRPr>
            </a:lvl1pPr>
          </a:lstStyle>
          <a:p>
            <a:pPr marL="12700">
              <a:lnSpc>
                <a:spcPts val="1019"/>
              </a:lnSpc>
            </a:pPr>
            <a:r>
              <a:rPr spc="-20" dirty="0"/>
              <a:t>COBE</a:t>
            </a: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1/9/2025</a:t>
            </a:fld>
            <a:endParaRPr lang="en-US"/>
          </a:p>
        </p:txBody>
      </p:sp>
      <p:sp>
        <p:nvSpPr>
          <p:cNvPr id="6" name="Holder 6"/>
          <p:cNvSpPr>
            <a:spLocks noGrp="1"/>
          </p:cNvSpPr>
          <p:nvPr>
            <p:ph type="sldNum" sz="quarter" idx="7"/>
          </p:nvPr>
        </p:nvSpPr>
        <p:spPr>
          <a:xfrm>
            <a:off x="4842802" y="9495002"/>
            <a:ext cx="2523490" cy="127000"/>
          </a:xfrm>
          <a:prstGeom prst="rect">
            <a:avLst/>
          </a:prstGeom>
        </p:spPr>
        <p:txBody>
          <a:bodyPr wrap="square" lIns="0" tIns="0" rIns="0" bIns="0">
            <a:spAutoFit/>
          </a:bodyPr>
          <a:lstStyle>
            <a:lvl1pPr>
              <a:defRPr sz="800" b="0" i="0">
                <a:solidFill>
                  <a:srgbClr val="666666"/>
                </a:solidFill>
                <a:latin typeface="Arial MT"/>
                <a:cs typeface="Arial MT"/>
              </a:defRPr>
            </a:lvl1pPr>
          </a:lstStyle>
          <a:p>
            <a:pPr marL="12700">
              <a:lnSpc>
                <a:spcPts val="915"/>
              </a:lnSpc>
              <a:tabLst>
                <a:tab pos="2410460" algn="l"/>
              </a:tabLst>
            </a:pPr>
            <a:r>
              <a:rPr spc="10" dirty="0"/>
              <a:t>Copyright</a:t>
            </a:r>
            <a:r>
              <a:rPr spc="-5" dirty="0"/>
              <a:t> </a:t>
            </a:r>
            <a:r>
              <a:rPr spc="85" dirty="0"/>
              <a:t>©</a:t>
            </a:r>
            <a:r>
              <a:rPr spc="-5" dirty="0"/>
              <a:t> </a:t>
            </a:r>
            <a:r>
              <a:rPr spc="10" dirty="0"/>
              <a:t>2022</a:t>
            </a:r>
            <a:r>
              <a:rPr spc="-5" dirty="0"/>
              <a:t> </a:t>
            </a:r>
            <a:r>
              <a:rPr spc="10" dirty="0"/>
              <a:t>Accenture.</a:t>
            </a:r>
            <a:r>
              <a:rPr spc="-5" dirty="0"/>
              <a:t> </a:t>
            </a:r>
            <a:r>
              <a:rPr spc="10" dirty="0"/>
              <a:t>All</a:t>
            </a:r>
            <a:r>
              <a:rPr spc="-5" dirty="0"/>
              <a:t> </a:t>
            </a:r>
            <a:r>
              <a:rPr spc="10" dirty="0"/>
              <a:t>rights</a:t>
            </a:r>
            <a:r>
              <a:rPr dirty="0"/>
              <a:t> </a:t>
            </a:r>
            <a:r>
              <a:rPr spc="-10" dirty="0"/>
              <a:t>reserved.</a:t>
            </a:r>
            <a:r>
              <a:rPr dirty="0"/>
              <a:t>	</a:t>
            </a: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manlitics.com/" TargetMode="External"/><Relationship Id="rId2" Type="http://schemas.openxmlformats.org/officeDocument/2006/relationships/hyperlink" Target="https://www.google.com/maps/place/Manlitics+B2B+Ites+Private+Limited/@18.5996353,73.736006,2745m/data=!3m1!1e3!4m6!3m5!1s0x3bc2bfaaa75a3a2b:0x5bb8c44c94ea45b9!8m2!3d18.5923462!4d73.7336137!16s%2Fg%2F11j32c10q1?entry=ttu&amp;g_ep=EgoyMDI1MDEwNi4xIKXMDSoASAFQAw%3D%3D" TargetMode="Externa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mailto:Hr@manlitics.com"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6B12F75-4431-50C3-8687-721D7468E3B3}"/>
              </a:ext>
            </a:extLst>
          </p:cNvPr>
          <p:cNvSpPr/>
          <p:nvPr/>
        </p:nvSpPr>
        <p:spPr>
          <a:xfrm>
            <a:off x="0" y="0"/>
            <a:ext cx="7772400" cy="10058400"/>
          </a:xfrm>
          <a:prstGeom prst="rect">
            <a:avLst/>
          </a:prstGeom>
          <a:gradFill flip="none" rotWithShape="1">
            <a:gsLst>
              <a:gs pos="0">
                <a:srgbClr val="B8EFE8">
                  <a:alpha val="36000"/>
                </a:srgbClr>
              </a:gs>
              <a:gs pos="55000">
                <a:srgbClr val="B8EFE8">
                  <a:alpha val="15000"/>
                </a:srgbClr>
              </a:gs>
              <a:gs pos="100000">
                <a:srgbClr val="0992D8">
                  <a:alpha val="1000"/>
                </a:srgb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object 2"/>
          <p:cNvSpPr txBox="1">
            <a:spLocks noGrp="1"/>
          </p:cNvSpPr>
          <p:nvPr>
            <p:ph type="title"/>
          </p:nvPr>
        </p:nvSpPr>
        <p:spPr>
          <a:xfrm>
            <a:off x="905355" y="1178357"/>
            <a:ext cx="5724045" cy="356764"/>
          </a:xfrm>
          <a:prstGeom prst="rect">
            <a:avLst/>
          </a:prstGeom>
        </p:spPr>
        <p:txBody>
          <a:bodyPr vert="horz" wrap="square" lIns="0" tIns="33020" rIns="0" bIns="0" rtlCol="0">
            <a:spAutoFit/>
          </a:bodyPr>
          <a:lstStyle/>
          <a:p>
            <a:pPr marL="12700" marR="5080">
              <a:lnSpc>
                <a:spcPts val="2800"/>
              </a:lnSpc>
              <a:spcBef>
                <a:spcPts val="260"/>
              </a:spcBef>
            </a:pPr>
            <a:r>
              <a:rPr lang="en-IN" sz="1600" dirty="0">
                <a:latin typeface="+mj-lt"/>
              </a:rPr>
              <a:t>Job Title: </a:t>
            </a:r>
            <a:r>
              <a:rPr lang="en-IN" sz="1600" b="0" dirty="0">
                <a:latin typeface="+mj-lt"/>
              </a:rPr>
              <a:t>Demand Generation Executive </a:t>
            </a:r>
            <a:r>
              <a:rPr lang="en-IN" sz="1200" b="0" dirty="0">
                <a:latin typeface="+mj-lt"/>
              </a:rPr>
              <a:t>(B2B international Lead Generation)</a:t>
            </a:r>
            <a:endParaRPr lang="en-IN" sz="1600" b="0" dirty="0">
              <a:latin typeface="+mj-lt"/>
            </a:endParaRPr>
          </a:p>
        </p:txBody>
      </p:sp>
      <p:sp>
        <p:nvSpPr>
          <p:cNvPr id="3" name="object 3"/>
          <p:cNvSpPr txBox="1"/>
          <p:nvPr/>
        </p:nvSpPr>
        <p:spPr>
          <a:xfrm>
            <a:off x="905355" y="1669986"/>
            <a:ext cx="5929630" cy="8025274"/>
          </a:xfrm>
          <a:prstGeom prst="rect">
            <a:avLst/>
          </a:prstGeom>
        </p:spPr>
        <p:txBody>
          <a:bodyPr vert="horz" wrap="square" lIns="0" tIns="22860" rIns="0" bIns="0" rtlCol="0">
            <a:spAutoFit/>
          </a:bodyPr>
          <a:lstStyle/>
          <a:p>
            <a:r>
              <a:rPr lang="en-GB" sz="1600" b="1" dirty="0">
                <a:latin typeface="+mj-lt"/>
                <a:ea typeface="Microsoft GothicNeo" panose="020B0500000101010101" pitchFamily="34" charset="-127"/>
                <a:cs typeface="Arial" panose="020B0604020202020204" pitchFamily="34" charset="0"/>
              </a:rPr>
              <a:t>Summary: </a:t>
            </a:r>
            <a:r>
              <a:rPr lang="en-GB" sz="1200" dirty="0">
                <a:latin typeface="+mj-lt"/>
                <a:ea typeface="Microsoft GothicNeo" panose="020B0500000101010101" pitchFamily="34" charset="-127"/>
                <a:cs typeface="Arial" panose="020B0604020202020204" pitchFamily="34" charset="0"/>
              </a:rPr>
              <a:t>The Demand Generation Executive plays a crucial role in identifying and qualifying potential customers through outbound BANT (Budget, Authority, Need, Timeline) calls to international markets. This role requires strong communication, research, and interpersonal skills to effectively engage with prospective clients and generate qualified leads for the sales team.</a:t>
            </a:r>
          </a:p>
          <a:p>
            <a:endParaRPr lang="en-GB" sz="1600" b="1" dirty="0">
              <a:latin typeface="+mj-lt"/>
              <a:ea typeface="Microsoft GothicNeo" panose="020B0500000101010101" pitchFamily="34" charset="-127"/>
              <a:cs typeface="Arial" panose="020B0604020202020204" pitchFamily="34" charset="0"/>
            </a:endParaRPr>
          </a:p>
          <a:p>
            <a:endParaRPr lang="en-GB" sz="1600" b="1" dirty="0">
              <a:latin typeface="+mj-lt"/>
              <a:ea typeface="Microsoft GothicNeo" panose="020B0500000101010101" pitchFamily="34" charset="-127"/>
              <a:cs typeface="Arial" panose="020B0604020202020204" pitchFamily="34" charset="0"/>
            </a:endParaRPr>
          </a:p>
          <a:p>
            <a:r>
              <a:rPr lang="en-GB" sz="1600" b="1" dirty="0">
                <a:latin typeface="+mj-lt"/>
                <a:ea typeface="Microsoft GothicNeo" panose="020B0500000101010101" pitchFamily="34" charset="-127"/>
                <a:cs typeface="Arial" panose="020B0604020202020204" pitchFamily="34" charset="0"/>
              </a:rPr>
              <a:t>Minimum Eligibility Criteria:</a:t>
            </a:r>
            <a:endParaRPr lang="en-GB" sz="1600" dirty="0">
              <a:latin typeface="+mj-lt"/>
              <a:ea typeface="Microsoft GothicNeo" panose="020B0500000101010101" pitchFamily="34" charset="-127"/>
              <a:cs typeface="Arial" panose="020B0604020202020204" pitchFamily="34" charset="0"/>
            </a:endParaRPr>
          </a:p>
          <a:p>
            <a:pPr marL="171450" indent="-171450">
              <a:buFont typeface="Arial" panose="020B0604020202020204" pitchFamily="34" charset="0"/>
              <a:buChar char="•"/>
            </a:pPr>
            <a:r>
              <a:rPr lang="en-GB" sz="1200" dirty="0">
                <a:latin typeface="+mj-lt"/>
                <a:ea typeface="Microsoft GothicNeo" panose="020B0500000101010101" pitchFamily="34" charset="-127"/>
                <a:cs typeface="Arial" panose="020B0604020202020204" pitchFamily="34" charset="0"/>
              </a:rPr>
              <a:t>Bachelor's degree in Marketing, Business Administration, or a related field.</a:t>
            </a:r>
          </a:p>
          <a:p>
            <a:pPr marL="171450" indent="-171450">
              <a:buFont typeface="Arial" panose="020B0604020202020204" pitchFamily="34" charset="0"/>
              <a:buChar char="•"/>
            </a:pPr>
            <a:r>
              <a:rPr lang="en-GB" sz="1200" dirty="0">
                <a:latin typeface="+mj-lt"/>
                <a:ea typeface="Microsoft GothicNeo" panose="020B0500000101010101" pitchFamily="34" charset="-127"/>
                <a:cs typeface="Arial" panose="020B0604020202020204" pitchFamily="34" charset="0"/>
              </a:rPr>
              <a:t>Exceptional communication and interpersonal skills with strong English proficiency (both written and verbal). (Mandatory)</a:t>
            </a:r>
          </a:p>
          <a:p>
            <a:pPr marL="171450" indent="-171450">
              <a:buFont typeface="Arial" panose="020B0604020202020204" pitchFamily="34" charset="0"/>
              <a:buChar char="•"/>
            </a:pPr>
            <a:r>
              <a:rPr lang="en-GB" sz="1200" dirty="0">
                <a:latin typeface="+mj-lt"/>
                <a:ea typeface="Microsoft GothicNeo" panose="020B0500000101010101" pitchFamily="34" charset="-127"/>
                <a:cs typeface="Arial" panose="020B0604020202020204" pitchFamily="34" charset="0"/>
              </a:rPr>
              <a:t>Proven experience in outbound sales, lead generation, or business development, preferably in an international B2B environment. (preferred)</a:t>
            </a:r>
          </a:p>
          <a:p>
            <a:pPr marL="171450" indent="-171450">
              <a:buFont typeface="Arial" panose="020B0604020202020204" pitchFamily="34" charset="0"/>
              <a:buChar char="•"/>
            </a:pPr>
            <a:r>
              <a:rPr lang="en-GB" sz="1200" dirty="0">
                <a:latin typeface="+mj-lt"/>
                <a:ea typeface="Microsoft GothicNeo" panose="020B0500000101010101" pitchFamily="34" charset="-127"/>
                <a:cs typeface="Arial" panose="020B0604020202020204" pitchFamily="34" charset="0"/>
              </a:rPr>
              <a:t>Strong understanding of sales methodologies and the BANT framework. (preferred)</a:t>
            </a:r>
          </a:p>
          <a:p>
            <a:pPr marL="171450" indent="-171450">
              <a:buFont typeface="Arial" panose="020B0604020202020204" pitchFamily="34" charset="0"/>
              <a:buChar char="•"/>
            </a:pPr>
            <a:r>
              <a:rPr lang="en-GB" sz="1200" dirty="0">
                <a:latin typeface="+mj-lt"/>
                <a:ea typeface="Microsoft GothicNeo" panose="020B0500000101010101" pitchFamily="34" charset="-127"/>
                <a:cs typeface="Arial" panose="020B0604020202020204" pitchFamily="34" charset="0"/>
              </a:rPr>
              <a:t>Experience as an Appointment Setter or Lead Generation in B2B-IT company. (preferred)</a:t>
            </a:r>
          </a:p>
          <a:p>
            <a:endParaRPr lang="en-GB" sz="1600" b="1" dirty="0">
              <a:latin typeface="+mj-lt"/>
              <a:ea typeface="Microsoft GothicNeo" panose="020B0500000101010101" pitchFamily="34" charset="-127"/>
              <a:cs typeface="Arial" panose="020B0604020202020204" pitchFamily="34" charset="0"/>
            </a:endParaRPr>
          </a:p>
          <a:p>
            <a:endParaRPr lang="en-GB" sz="1600" b="1" dirty="0">
              <a:latin typeface="+mj-lt"/>
              <a:ea typeface="Microsoft GothicNeo" panose="020B0500000101010101" pitchFamily="34" charset="-127"/>
              <a:cs typeface="Arial" panose="020B0604020202020204" pitchFamily="34" charset="0"/>
            </a:endParaRPr>
          </a:p>
          <a:p>
            <a:r>
              <a:rPr lang="en-GB" sz="1600" b="1" dirty="0">
                <a:latin typeface="+mj-lt"/>
                <a:ea typeface="Microsoft GothicNeo" panose="020B0500000101010101" pitchFamily="34" charset="-127"/>
                <a:cs typeface="Arial" panose="020B0604020202020204" pitchFamily="34" charset="0"/>
              </a:rPr>
              <a:t>Key Responsibilities:</a:t>
            </a:r>
            <a:endParaRPr lang="en-GB" sz="1600" dirty="0">
              <a:latin typeface="+mj-lt"/>
              <a:ea typeface="Microsoft GothicNeo" panose="020B0500000101010101" pitchFamily="34" charset="-127"/>
              <a:cs typeface="Arial" panose="020B0604020202020204" pitchFamily="34" charset="0"/>
            </a:endParaRPr>
          </a:p>
          <a:p>
            <a:pPr marL="171450" indent="-171450">
              <a:buFont typeface="Arial" panose="020B0604020202020204" pitchFamily="34" charset="0"/>
              <a:buChar char="•"/>
            </a:pPr>
            <a:r>
              <a:rPr lang="en-GB" sz="1200" b="1" dirty="0">
                <a:latin typeface="+mj-lt"/>
                <a:ea typeface="Microsoft GothicNeo" panose="020B0500000101010101" pitchFamily="34" charset="-127"/>
                <a:cs typeface="Arial" panose="020B0604020202020204" pitchFamily="34" charset="0"/>
              </a:rPr>
              <a:t>Lead Generation: </a:t>
            </a:r>
            <a:r>
              <a:rPr lang="en-GB" sz="1200" dirty="0">
                <a:latin typeface="+mj-lt"/>
                <a:ea typeface="Microsoft GothicNeo" panose="020B0500000101010101" pitchFamily="34" charset="-127"/>
                <a:cs typeface="Arial" panose="020B0604020202020204" pitchFamily="34" charset="0"/>
              </a:rPr>
              <a:t>Conduct outbound BANT calls to identify and qualify potential customers in international markets.</a:t>
            </a:r>
          </a:p>
          <a:p>
            <a:pPr marL="171450" indent="-171450">
              <a:buFont typeface="Arial" panose="020B0604020202020204" pitchFamily="34" charset="0"/>
              <a:buChar char="•"/>
            </a:pPr>
            <a:r>
              <a:rPr lang="en-GB" sz="1200" b="1" dirty="0">
                <a:latin typeface="+mj-lt"/>
                <a:ea typeface="Microsoft GothicNeo" panose="020B0500000101010101" pitchFamily="34" charset="-127"/>
                <a:cs typeface="Arial" panose="020B0604020202020204" pitchFamily="34" charset="0"/>
              </a:rPr>
              <a:t>Research &amp; Prospecting: </a:t>
            </a:r>
            <a:r>
              <a:rPr lang="en-GB" sz="1200" dirty="0">
                <a:latin typeface="+mj-lt"/>
                <a:ea typeface="Microsoft GothicNeo" panose="020B0500000101010101" pitchFamily="34" charset="-127"/>
                <a:cs typeface="Arial" panose="020B0604020202020204" pitchFamily="34" charset="0"/>
              </a:rPr>
              <a:t>Research target accounts, identify key decision-makers, and build prospect lists.</a:t>
            </a:r>
          </a:p>
          <a:p>
            <a:pPr marL="171450" indent="-171450">
              <a:buFont typeface="Arial" panose="020B0604020202020204" pitchFamily="34" charset="0"/>
              <a:buChar char="•"/>
            </a:pPr>
            <a:r>
              <a:rPr lang="en-GB" sz="1200" b="1" dirty="0">
                <a:latin typeface="+mj-lt"/>
                <a:ea typeface="Microsoft GothicNeo" panose="020B0500000101010101" pitchFamily="34" charset="-127"/>
                <a:cs typeface="Arial" panose="020B0604020202020204" pitchFamily="34" charset="0"/>
              </a:rPr>
              <a:t>Lead Qualification: </a:t>
            </a:r>
            <a:r>
              <a:rPr lang="en-GB" sz="1200" dirty="0">
                <a:latin typeface="+mj-lt"/>
                <a:ea typeface="Microsoft GothicNeo" panose="020B0500000101010101" pitchFamily="34" charset="-127"/>
                <a:cs typeface="Arial" panose="020B0604020202020204" pitchFamily="34" charset="0"/>
              </a:rPr>
              <a:t>Qualify leads based on predetermined criteria, such as budget, authority, need, and timeline.</a:t>
            </a:r>
          </a:p>
          <a:p>
            <a:pPr marL="171450" indent="-171450">
              <a:buFont typeface="Arial" panose="020B0604020202020204" pitchFamily="34" charset="0"/>
              <a:buChar char="•"/>
            </a:pPr>
            <a:r>
              <a:rPr lang="en-GB" sz="1200" b="1" dirty="0">
                <a:latin typeface="+mj-lt"/>
                <a:ea typeface="Microsoft GothicNeo" panose="020B0500000101010101" pitchFamily="34" charset="-127"/>
                <a:cs typeface="Arial" panose="020B0604020202020204" pitchFamily="34" charset="0"/>
              </a:rPr>
              <a:t>Data Management: </a:t>
            </a:r>
            <a:r>
              <a:rPr lang="en-GB" sz="1200" dirty="0">
                <a:latin typeface="+mj-lt"/>
                <a:ea typeface="Microsoft GothicNeo" panose="020B0500000101010101" pitchFamily="34" charset="-127"/>
                <a:cs typeface="Arial" panose="020B0604020202020204" pitchFamily="34" charset="0"/>
              </a:rPr>
              <a:t>Maintain accurate records of all prospecting activities, including call logs, lead information, and campaign results.</a:t>
            </a:r>
          </a:p>
          <a:p>
            <a:pPr marL="171450" indent="-171450">
              <a:buFont typeface="Arial" panose="020B0604020202020204" pitchFamily="34" charset="0"/>
              <a:buChar char="•"/>
            </a:pPr>
            <a:r>
              <a:rPr lang="en-GB" sz="1200" b="1" dirty="0">
                <a:latin typeface="+mj-lt"/>
                <a:ea typeface="Microsoft GothicNeo" panose="020B0500000101010101" pitchFamily="34" charset="-127"/>
                <a:cs typeface="Arial" panose="020B0604020202020204" pitchFamily="34" charset="0"/>
              </a:rPr>
              <a:t>Market Research: </a:t>
            </a:r>
            <a:r>
              <a:rPr lang="en-GB" sz="1200" dirty="0">
                <a:latin typeface="+mj-lt"/>
                <a:ea typeface="Microsoft GothicNeo" panose="020B0500000101010101" pitchFamily="34" charset="-127"/>
                <a:cs typeface="Arial" panose="020B0604020202020204" pitchFamily="34" charset="0"/>
              </a:rPr>
              <a:t>Stay updated on industry trends, competitor activities, and market dynamics in target regions.</a:t>
            </a:r>
          </a:p>
          <a:p>
            <a:pPr marL="171450" indent="-171450">
              <a:buFont typeface="Arial" panose="020B0604020202020204" pitchFamily="34" charset="0"/>
              <a:buChar char="•"/>
            </a:pPr>
            <a:r>
              <a:rPr lang="en-GB" sz="1200" b="1" dirty="0">
                <a:latin typeface="+mj-lt"/>
                <a:ea typeface="Microsoft GothicNeo" panose="020B0500000101010101" pitchFamily="34" charset="-127"/>
                <a:cs typeface="Arial" panose="020B0604020202020204" pitchFamily="34" charset="0"/>
              </a:rPr>
              <a:t>Communication &amp; Reporting</a:t>
            </a:r>
            <a:r>
              <a:rPr lang="en-GB" sz="1200" dirty="0">
                <a:latin typeface="+mj-lt"/>
                <a:ea typeface="Microsoft GothicNeo" panose="020B0500000101010101" pitchFamily="34" charset="-127"/>
                <a:cs typeface="Arial" panose="020B0604020202020204" pitchFamily="34" charset="0"/>
              </a:rPr>
              <a:t>: Communicate effectively with sales teams, providing them with qualified leads and relevant market insights.</a:t>
            </a:r>
          </a:p>
          <a:p>
            <a:endParaRPr lang="en-GB" sz="1200" dirty="0">
              <a:latin typeface="+mj-lt"/>
              <a:ea typeface="Microsoft GothicNeo" panose="020B0500000101010101" pitchFamily="34" charset="-127"/>
              <a:cs typeface="Arial" panose="020B0604020202020204" pitchFamily="34" charset="0"/>
            </a:endParaRPr>
          </a:p>
          <a:p>
            <a:endParaRPr lang="en-GB" sz="1200" dirty="0">
              <a:latin typeface="+mj-lt"/>
              <a:ea typeface="Microsoft GothicNeo" panose="020B0500000101010101" pitchFamily="34" charset="-127"/>
              <a:cs typeface="Arial" panose="020B0604020202020204" pitchFamily="34" charset="0"/>
            </a:endParaRPr>
          </a:p>
          <a:p>
            <a:r>
              <a:rPr lang="en-GB" sz="1400" b="1" dirty="0">
                <a:latin typeface="+mj-lt"/>
                <a:ea typeface="Microsoft GothicNeo" panose="020B0500000101010101" pitchFamily="34" charset="-127"/>
                <a:cs typeface="Arial" panose="020B0604020202020204" pitchFamily="34" charset="0"/>
              </a:rPr>
              <a:t>Openings</a:t>
            </a:r>
            <a:r>
              <a:rPr lang="en-GB" sz="1600" b="1" dirty="0">
                <a:latin typeface="+mj-lt"/>
                <a:ea typeface="Microsoft GothicNeo" panose="020B0500000101010101" pitchFamily="34" charset="-127"/>
                <a:cs typeface="Arial" panose="020B0604020202020204" pitchFamily="34" charset="0"/>
              </a:rPr>
              <a:t>: </a:t>
            </a:r>
            <a:r>
              <a:rPr lang="en-GB" sz="1200" dirty="0">
                <a:latin typeface="+mj-lt"/>
                <a:ea typeface="Microsoft GothicNeo" panose="020B0500000101010101" pitchFamily="34" charset="-127"/>
                <a:cs typeface="Arial" panose="020B0604020202020204" pitchFamily="34" charset="0"/>
              </a:rPr>
              <a:t>15</a:t>
            </a:r>
          </a:p>
          <a:p>
            <a:r>
              <a:rPr lang="en-GB" sz="1400" b="1" dirty="0">
                <a:latin typeface="+mj-lt"/>
                <a:ea typeface="Microsoft GothicNeo" panose="020B0500000101010101" pitchFamily="34" charset="-127"/>
                <a:cs typeface="Arial" panose="020B0604020202020204" pitchFamily="34" charset="0"/>
              </a:rPr>
              <a:t>Shift Timings: </a:t>
            </a:r>
            <a:r>
              <a:rPr lang="en-GB" sz="1200" dirty="0">
                <a:latin typeface="+mj-lt"/>
                <a:ea typeface="Microsoft GothicNeo" panose="020B0500000101010101" pitchFamily="34" charset="-127"/>
                <a:cs typeface="Arial" panose="020B0604020202020204" pitchFamily="34" charset="0"/>
              </a:rPr>
              <a:t>Rotational Shifts (Night Shifts)</a:t>
            </a:r>
            <a:br>
              <a:rPr lang="en-GB" sz="1200" dirty="0">
                <a:latin typeface="+mj-lt"/>
                <a:ea typeface="Microsoft GothicNeo" panose="020B0500000101010101" pitchFamily="34" charset="-127"/>
                <a:cs typeface="Arial" panose="020B0604020202020204" pitchFamily="34" charset="0"/>
              </a:rPr>
            </a:br>
            <a:r>
              <a:rPr lang="en-GB" sz="1400" b="1" dirty="0">
                <a:latin typeface="+mj-lt"/>
                <a:ea typeface="Microsoft GothicNeo" panose="020B0500000101010101" pitchFamily="34" charset="-127"/>
                <a:cs typeface="Arial" panose="020B0604020202020204" pitchFamily="34" charset="0"/>
              </a:rPr>
              <a:t>Location: </a:t>
            </a:r>
            <a:r>
              <a:rPr lang="en-GB" sz="1200" dirty="0">
                <a:latin typeface="+mj-lt"/>
                <a:ea typeface="Microsoft GothicNeo" panose="020B0500000101010101" pitchFamily="34" charset="-127"/>
                <a:cs typeface="Arial" panose="020B0604020202020204" pitchFamily="34" charset="0"/>
              </a:rPr>
              <a:t>J.K Infotech, Rajiv Gandhi MIDC Rd, Phase 1, Hinjewadi Rajiv Gandhi Infotech Park, Hinjewadi, Pimpri-Chinchwad, Maharashtra 411057, India - </a:t>
            </a:r>
            <a:r>
              <a:rPr lang="en-GB" sz="1200" dirty="0">
                <a:latin typeface="+mj-lt"/>
                <a:ea typeface="Microsoft GothicNeo" panose="020B0500000101010101" pitchFamily="34" charset="-127"/>
                <a:cs typeface="Arial" panose="020B0604020202020204" pitchFamily="34" charset="0"/>
                <a:hlinkClick r:id="rId2"/>
              </a:rPr>
              <a:t>Google Maps</a:t>
            </a:r>
            <a:endParaRPr lang="en-GB" sz="1200" dirty="0">
              <a:latin typeface="+mj-lt"/>
              <a:ea typeface="Microsoft GothicNeo" panose="020B0500000101010101" pitchFamily="34" charset="-127"/>
              <a:cs typeface="Arial" panose="020B0604020202020204" pitchFamily="34" charset="0"/>
            </a:endParaRPr>
          </a:p>
          <a:p>
            <a:r>
              <a:rPr lang="en-GB" sz="1400" b="1" dirty="0">
                <a:latin typeface="+mj-lt"/>
                <a:ea typeface="Microsoft GothicNeo" panose="020B0500000101010101" pitchFamily="34" charset="-127"/>
                <a:cs typeface="Arial" panose="020B0604020202020204" pitchFamily="34" charset="0"/>
              </a:rPr>
              <a:t>About Company: </a:t>
            </a:r>
            <a:r>
              <a:rPr lang="en-GB" sz="1200" dirty="0">
                <a:latin typeface="+mj-lt"/>
                <a:ea typeface="Microsoft GothicNeo" panose="020B0500000101010101" pitchFamily="34" charset="-127"/>
                <a:cs typeface="Arial" panose="020B0604020202020204" pitchFamily="34" charset="0"/>
                <a:hlinkClick r:id="rId3"/>
              </a:rPr>
              <a:t>https://www.manlitics.com/</a:t>
            </a:r>
            <a:r>
              <a:rPr lang="en-GB" sz="1200" dirty="0">
                <a:latin typeface="+mj-lt"/>
                <a:ea typeface="Microsoft GothicNeo" panose="020B0500000101010101" pitchFamily="34" charset="-127"/>
                <a:cs typeface="Arial" panose="020B0604020202020204" pitchFamily="34" charset="0"/>
              </a:rPr>
              <a:t> </a:t>
            </a:r>
          </a:p>
          <a:p>
            <a:r>
              <a:rPr lang="en-GB" sz="1400" b="1" dirty="0">
                <a:latin typeface="+mj-lt"/>
                <a:ea typeface="Microsoft GothicNeo" panose="020B0500000101010101" pitchFamily="34" charset="-127"/>
                <a:cs typeface="Arial" panose="020B0604020202020204" pitchFamily="34" charset="0"/>
              </a:rPr>
              <a:t>Contact us: </a:t>
            </a:r>
            <a:r>
              <a:rPr lang="en-GB" sz="1200" dirty="0">
                <a:latin typeface="+mj-lt"/>
                <a:ea typeface="Microsoft GothicNeo" panose="020B0500000101010101" pitchFamily="34" charset="-127"/>
                <a:cs typeface="Arial" panose="020B0604020202020204" pitchFamily="34" charset="0"/>
                <a:hlinkClick r:id="rId4"/>
              </a:rPr>
              <a:t>Hr@manlitics.com</a:t>
            </a:r>
            <a:r>
              <a:rPr lang="en-GB" sz="1200" dirty="0">
                <a:latin typeface="+mj-lt"/>
                <a:ea typeface="Microsoft GothicNeo" panose="020B0500000101010101" pitchFamily="34" charset="-127"/>
                <a:cs typeface="Arial" panose="020B0604020202020204" pitchFamily="34" charset="0"/>
              </a:rPr>
              <a:t> | +91- 73910 94394 </a:t>
            </a:r>
          </a:p>
          <a:p>
            <a:br>
              <a:rPr lang="en-GB" sz="1200" dirty="0">
                <a:latin typeface="+mj-lt"/>
                <a:ea typeface="Microsoft GothicNeo" panose="020B0500000101010101" pitchFamily="34" charset="-127"/>
                <a:cs typeface="Arial" panose="020B0604020202020204" pitchFamily="34" charset="0"/>
              </a:rPr>
            </a:br>
            <a:endParaRPr lang="en-GB" sz="1200" dirty="0">
              <a:latin typeface="+mj-lt"/>
              <a:ea typeface="Microsoft GothicNeo" panose="020B0500000101010101" pitchFamily="34" charset="-127"/>
              <a:cs typeface="Arial" panose="020B0604020202020204" pitchFamily="34" charset="0"/>
            </a:endParaRPr>
          </a:p>
        </p:txBody>
      </p:sp>
      <p:sp>
        <p:nvSpPr>
          <p:cNvPr id="4" name="object 4"/>
          <p:cNvSpPr txBox="1"/>
          <p:nvPr/>
        </p:nvSpPr>
        <p:spPr>
          <a:xfrm>
            <a:off x="6263525" y="421384"/>
            <a:ext cx="950594" cy="166712"/>
          </a:xfrm>
          <a:prstGeom prst="rect">
            <a:avLst/>
          </a:prstGeom>
        </p:spPr>
        <p:txBody>
          <a:bodyPr vert="horz" wrap="square" lIns="0" tIns="12700" rIns="0" bIns="0" rtlCol="0">
            <a:spAutoFit/>
          </a:bodyPr>
          <a:lstStyle/>
          <a:p>
            <a:pPr marL="12700">
              <a:lnSpc>
                <a:spcPct val="100000"/>
              </a:lnSpc>
              <a:spcBef>
                <a:spcPts val="100"/>
              </a:spcBef>
            </a:pPr>
            <a:r>
              <a:rPr lang="en-GB" sz="1000" dirty="0">
                <a:solidFill>
                  <a:srgbClr val="666666"/>
                </a:solidFill>
                <a:latin typeface="Arial MT"/>
                <a:cs typeface="Arial MT"/>
              </a:rPr>
              <a:t>DGE-JD-2025</a:t>
            </a:r>
            <a:endParaRPr sz="1000" dirty="0">
              <a:latin typeface="Arial MT"/>
              <a:cs typeface="Arial MT"/>
            </a:endParaRPr>
          </a:p>
        </p:txBody>
      </p:sp>
      <p:sp>
        <p:nvSpPr>
          <p:cNvPr id="5" name="object 5"/>
          <p:cNvSpPr/>
          <p:nvPr/>
        </p:nvSpPr>
        <p:spPr>
          <a:xfrm>
            <a:off x="7302500" y="457200"/>
            <a:ext cx="0" cy="104775"/>
          </a:xfrm>
          <a:custGeom>
            <a:avLst/>
            <a:gdLst/>
            <a:ahLst/>
            <a:cxnLst/>
            <a:rect l="l" t="t" r="r" b="b"/>
            <a:pathLst>
              <a:path h="104775">
                <a:moveTo>
                  <a:pt x="0" y="0"/>
                </a:moveTo>
                <a:lnTo>
                  <a:pt x="0" y="104775"/>
                </a:lnTo>
              </a:path>
            </a:pathLst>
          </a:custGeom>
          <a:ln w="25400">
            <a:solidFill>
              <a:srgbClr val="0992D8"/>
            </a:solidFill>
          </a:ln>
        </p:spPr>
        <p:txBody>
          <a:bodyPr wrap="square" lIns="0" tIns="0" rIns="0" bIns="0" rtlCol="0"/>
          <a:lstStyle/>
          <a:p>
            <a:endParaRPr/>
          </a:p>
        </p:txBody>
      </p:sp>
      <p:sp>
        <p:nvSpPr>
          <p:cNvPr id="9" name="object 19">
            <a:extLst>
              <a:ext uri="{FF2B5EF4-FFF2-40B4-BE49-F238E27FC236}">
                <a16:creationId xmlns:a16="http://schemas.microsoft.com/office/drawing/2014/main" id="{BED37BB3-62B1-0AAA-4F17-D116B907F644}"/>
              </a:ext>
            </a:extLst>
          </p:cNvPr>
          <p:cNvSpPr txBox="1">
            <a:spLocks noGrp="1"/>
          </p:cNvSpPr>
          <p:nvPr>
            <p:ph type="sldNum" sz="quarter" idx="7"/>
          </p:nvPr>
        </p:nvSpPr>
        <p:spPr>
          <a:xfrm>
            <a:off x="4842802" y="9495002"/>
            <a:ext cx="2523490" cy="115416"/>
          </a:xfrm>
          <a:prstGeom prst="rect">
            <a:avLst/>
          </a:prstGeom>
        </p:spPr>
        <p:txBody>
          <a:bodyPr vert="horz" wrap="square" lIns="0" tIns="0" rIns="0" bIns="0" rtlCol="0">
            <a:spAutoFit/>
          </a:bodyPr>
          <a:lstStyle/>
          <a:p>
            <a:pPr marL="12700">
              <a:lnSpc>
                <a:spcPts val="915"/>
              </a:lnSpc>
              <a:tabLst>
                <a:tab pos="2410460" algn="l"/>
              </a:tabLst>
            </a:pPr>
            <a:r>
              <a:rPr spc="10" dirty="0"/>
              <a:t>Copyright</a:t>
            </a:r>
            <a:r>
              <a:rPr spc="-5" dirty="0"/>
              <a:t> </a:t>
            </a:r>
            <a:r>
              <a:rPr spc="85" dirty="0"/>
              <a:t>©</a:t>
            </a:r>
            <a:r>
              <a:rPr spc="-5" dirty="0"/>
              <a:t> </a:t>
            </a:r>
            <a:r>
              <a:rPr spc="10" dirty="0"/>
              <a:t>202</a:t>
            </a:r>
            <a:r>
              <a:rPr lang="en-GB" spc="10" dirty="0"/>
              <a:t>5</a:t>
            </a:r>
            <a:r>
              <a:rPr spc="-5" dirty="0"/>
              <a:t> </a:t>
            </a:r>
            <a:r>
              <a:rPr lang="en-GB" spc="10" dirty="0"/>
              <a:t>Manlitics</a:t>
            </a:r>
            <a:r>
              <a:rPr spc="10" dirty="0"/>
              <a:t>.</a:t>
            </a:r>
            <a:r>
              <a:rPr spc="-5" dirty="0"/>
              <a:t> </a:t>
            </a:r>
            <a:r>
              <a:rPr spc="10" dirty="0"/>
              <a:t>All</a:t>
            </a:r>
            <a:r>
              <a:rPr spc="-5" dirty="0"/>
              <a:t> </a:t>
            </a:r>
            <a:r>
              <a:rPr spc="10" dirty="0"/>
              <a:t>rights</a:t>
            </a:r>
            <a:r>
              <a:rPr dirty="0"/>
              <a:t> </a:t>
            </a:r>
            <a:r>
              <a:rPr spc="-10" dirty="0"/>
              <a:t>reserved.</a:t>
            </a:r>
            <a:r>
              <a:rPr dirty="0"/>
              <a:t>	</a:t>
            </a:r>
            <a:fld id="{81D60167-4931-47E6-BA6A-407CBD079E47}" type="slidenum">
              <a:rPr spc="-50" dirty="0"/>
              <a:t>1</a:t>
            </a:fld>
            <a:endParaRPr spc="-50" dirty="0"/>
          </a:p>
        </p:txBody>
      </p:sp>
      <p:pic>
        <p:nvPicPr>
          <p:cNvPr id="8" name="Picture 7" descr="A blue and black logo&#10;&#10;Description automatically generated">
            <a:extLst>
              <a:ext uri="{FF2B5EF4-FFF2-40B4-BE49-F238E27FC236}">
                <a16:creationId xmlns:a16="http://schemas.microsoft.com/office/drawing/2014/main" id="{54AC80A6-FED9-5F3A-0278-60ED139F404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5355" y="374842"/>
            <a:ext cx="1075845" cy="31095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1846</TotalTime>
  <Words>359</Words>
  <Application>Microsoft Office PowerPoint</Application>
  <PresentationFormat>Custom</PresentationFormat>
  <Paragraphs>28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Arial MT</vt:lpstr>
      <vt:lpstr>Tahoma</vt:lpstr>
      <vt:lpstr>Office Theme</vt:lpstr>
      <vt:lpstr>Job Title: Demand Generation Executive (B2B international Lead Generation)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Accenture Code of Business Ethics | Accenture</dc:title>
  <dc:subject>Accenture's Code of Business Ethics</dc:subject>
  <dc:creator>Accenture</dc:creator>
  <cp:keywords>Code of Business Ethics, Ethics, Make Your Conduct Count, COBE, Accenture, Compliance &amp; Ethics, Anticorruption, Confidentiality, Data Privacy, Non-retaliation, non-descrimination, metaverse, core values</cp:keywords>
  <cp:lastModifiedBy>Office 4</cp:lastModifiedBy>
  <cp:revision>260</cp:revision>
  <dcterms:created xsi:type="dcterms:W3CDTF">2025-01-07T11:26:00Z</dcterms:created>
  <dcterms:modified xsi:type="dcterms:W3CDTF">2025-01-09T13:23:08Z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2021-12-09T00:00:00Z</vt:filetime>
  </property>
  <property fmtid="{D5CDD505-2E9C-101B-9397-08002B2CF9AE}" pid="3" name="Creator">
    <vt:lpwstr>Adobe InDesign 16.4 (Windows)</vt:lpwstr>
  </property>
  <property fmtid="{D5CDD505-2E9C-101B-9397-08002B2CF9AE}" pid="4" name="LastSaved">
    <vt:filetime>2025-01-07T00:00:00Z</vt:filetime>
  </property>
  <property fmtid="{D5CDD505-2E9C-101B-9397-08002B2CF9AE}" pid="5" name="Producer">
    <vt:lpwstr>Adobe PDF Library 16.0</vt:lpwstr>
  </property>
</Properties>
</file>